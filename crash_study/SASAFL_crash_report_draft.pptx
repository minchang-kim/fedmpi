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논문 인용은 paper/ 폴더의 PDF 8쪽, Table 1 설명 문단.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k&lt;=n개 worker가 실패하면 모든 worker를 중지하고 재시작. max_restarts 기본값은 0(torch/distributed/run.py).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각 상자는 E1/E2 로그와 서버 스택 덤프로 확인한 경로.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세부 수치는 figures/summary_table.md.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SIGUSR1로 받은 서버 스레드 스택(faulthandler).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E1b의 24라운드 정지가 실제 사례.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experiments/code_level_proof.py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P_r은 실제 SASAFL 코드 + 커밋된 K=100 실행의 실측 loss로 계산. 연결 모델은 sweep 변수(실측 아님). 연결된 차량은 매 라운드 업로드한다는 SASAFL에 유리한 가정.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0B0B0B"/>
                </a:solidFill>
                <a:latin typeface="NanumGothic"/>
              </a:rPr>
              <a:t>SASAFL은 차량 crash를 견딜 수 있는가?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10896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52514E"/>
                </a:solidFill>
                <a:latin typeface="NanumGothic"/>
              </a:rPr>
              <a:t>torchrun/gloo testbed 장애 주입 실험 · 코드 수준 증명 · 시뮬레이션 · 프레임워크 조사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52514E"/>
                </a:solidFill>
                <a:latin typeface="NanumGothic"/>
              </a:rPr>
              <a:t>차량용 연합학습 클라우드 (Jetson AGX Orin 32GB 클라이언트) 설계 검토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NanumGothic"/>
              </a:rPr>
              <a:t>문제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NanumGothic"/>
              </a:rPr>
              <a:t>차량 FL에서는 연결 끊김(crashed client)이 일상이다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0B0B0B"/>
                </a:solidFill>
                <a:latin typeface="NanumGothic"/>
              </a:rPr>
              <a:t>• 차량 클라이언트: 시동 OFF, 터널·음영 지역, 핸드오버 → 수시로 이탈·복귀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0B0B0B"/>
                </a:solidFill>
                <a:latin typeface="NanumGothic"/>
              </a:rPr>
              <a:t>• SASAFL 논문(Yu et al., JPDC 2024) 스스로 명시: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0B0B0B"/>
                </a:solidFill>
                <a:latin typeface="NanumGothic"/>
              </a:rPr>
              <a:t>   "Unlike SASAFL, SAFA considers crashed clients" (p.8)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0B0B0B"/>
                </a:solidFill>
                <a:latin typeface="NanumGothic"/>
              </a:rPr>
              <a:t>• SASAFL의 quota: P_min = C·K (최소 참여 수), P_r = Eq.(1)로 loss 변화에 따라 증감, 상한 K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0B0B0B"/>
                </a:solidFill>
                <a:latin typeface="NanumGothic"/>
              </a:rPr>
              <a:t>• 질문 1) 현재 testbed(torch.distributed + torchrun)는 차량 1대 장애에 어떻게 반응하는가?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0B0B0B"/>
                </a:solidFill>
                <a:latin typeface="NanumGothic"/>
              </a:rPr>
              <a:t>• 질문 2) 알고리즘 자체에 '살아있는 차량 수 &lt; P_r'에 대한 규칙이 있는가?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D03B3B"/>
                </a:solidFill>
                <a:latin typeface="NanumGothic"/>
              </a:rPr>
              <a:t>→ 결론: 둘 다 없다. 코드 수정은 임시방편이며 알고리즘·통신 구조 모두 crash-aware여야 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NanumGothic"/>
              </a:rPr>
              <a:t>실험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NanumGothic"/>
              </a:rPr>
              <a:t>원본 코드 무수정 · 계측 진입점(harness)과 외부 장애 주입만 사용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188720"/>
                <a:gridCol w="4572000"/>
                <a:gridCol w="475488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latin typeface="NanumGothic"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NanumGothic"/>
                        </a:rPr>
                        <a:t>종류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NanumGothic"/>
                        </a:rPr>
                        <a:t>설정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NanumGothic"/>
                        </a:rPr>
                        <a:t>검증하려는 것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NanumGothic"/>
                        </a:rPr>
                        <a:t>E0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NanumGothic"/>
                        </a:rPr>
                        <a:t>실측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NanumGothic"/>
                        </a:rPr>
                        <a:t>K=10, C=0.3, 30라운드, 장애 없음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NanumGothic"/>
                        </a:rPr>
                        <a:t>기준선 · P_r 실측 궤적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NanumGothic"/>
                        </a:rPr>
                        <a:t>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NanumGothic"/>
                        </a:rPr>
                        <a:t>실측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NanumGothic"/>
                        </a:rPr>
                        <a:t>5라운드에 차량 1대 SIGKILL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NanumGothic"/>
                        </a:rPr>
                        <a:t>hard crash 시 job 전체 영향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NanumGothic"/>
                        </a:rPr>
                        <a:t>E1b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NanumGothic"/>
                        </a:rPr>
                        <a:t>실측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NanumGothic"/>
                        </a:rPr>
                        <a:t>E1 + torchrun --max_restarts=3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NanumGothic"/>
                        </a:rPr>
                        <a:t>재시작이 복구가 되는가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NanumGothic"/>
                        </a:rPr>
                        <a:t>E2a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NanumGothic"/>
                        </a:rPr>
                        <a:t>실측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NanumGothic"/>
                        </a:rPr>
                        <a:t>5라운드에 차량 1대 SIGSTOP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NanumGothic"/>
                        </a:rPr>
                        <a:t>silent drop(음영) 시 서버 동작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NanumGothic"/>
                        </a:rPr>
                        <a:t>E2b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NanumGothic"/>
                        </a:rPr>
                        <a:t>실측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NanumGothic"/>
                        </a:rPr>
                        <a:t>K=10, C=0.5(P_min=5), 6대 SIGSTOP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NanumGothic"/>
                        </a:rPr>
                        <a:t>생존 4대 &lt; P_min 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NanumGothic"/>
                        </a:rPr>
                        <a:t>E2c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NanumGothic"/>
                        </a:rPr>
                        <a:t>실측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NanumGothic"/>
                        </a:rPr>
                        <a:t>E2a + gloo timeout 90초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NanumGothic"/>
                        </a:rPr>
                        <a:t>timeout 이후 복구되는가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NanumGothic"/>
                        </a:rPr>
                        <a:t>E3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NanumGothic"/>
                        </a:rPr>
                        <a:t>코드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NanumGothic"/>
                        </a:rPr>
                        <a:t>SASAFLServer 메서드 직접 호출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NanumGothic"/>
                        </a:rPr>
                        <a:t>대기 함수·quota 함수의 crash 비고려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NanumGothic"/>
                        </a:rPr>
                        <a:t>E4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NanumGothic"/>
                        </a:rPr>
                        <a:t>시뮬레이션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NanumGothic"/>
                        </a:rPr>
                        <a:t>K=100, 실측 loss, 마르코프 연결 모델 2000회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NanumGothic"/>
                        </a:rPr>
                        <a:t>끊김률 vs 교착 확률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NanumGothic"/>
              </a:rPr>
              <a:t>공식 문서 근거 ① torchrun의 실패 semantics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NanumGothic"/>
              </a:rPr>
              <a:t>PyTorch 1.12 (testbed 버전) 공식 문서</a:t>
            </a:r>
          </a:p>
        </p:txBody>
      </p:sp>
      <p:pic>
        <p:nvPicPr>
          <p:cNvPr id="4" name="Picture 3" descr="01_torchrun_failure_modes_v1.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581" y="1280160"/>
            <a:ext cx="7992533" cy="2697479"/>
          </a:xfrm>
          <a:prstGeom prst="rect">
            <a:avLst/>
          </a:prstGeom>
        </p:spPr>
      </p:pic>
      <p:pic>
        <p:nvPicPr>
          <p:cNvPr id="5" name="Picture 4" descr="02_torchrun_all_surviving_killed_v1.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9911" y="4023360"/>
            <a:ext cx="7571873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NanumGothic"/>
              </a:rPr>
              <a:t>공식 문서 근거 ② timeout과 fault tolerance의 현주소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NanumGothic"/>
              </a:rPr>
              <a:t>gloo 기본 30분 · peer 재구성 API는 최신 버전에서도 experimental</a:t>
            </a:r>
          </a:p>
        </p:txBody>
      </p:sp>
      <p:pic>
        <p:nvPicPr>
          <p:cNvPr id="4" name="Picture 3" descr="03_gloo_timeout_30min_v1.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1122" y="1280160"/>
            <a:ext cx="4449451" cy="2697480"/>
          </a:xfrm>
          <a:prstGeom prst="rect">
            <a:avLst/>
          </a:prstGeom>
        </p:spPr>
      </p:pic>
      <p:pic>
        <p:nvPicPr>
          <p:cNvPr id="5" name="Picture 4" descr="07_reconfigure_experimental_s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8191" y="4023360"/>
            <a:ext cx="8675312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NanumGothic"/>
              </a:rPr>
              <a:t>장애 전파 경로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NanumGothic"/>
              </a:rPr>
              <a:t>hard crash와 silent drop 모두 testbed 전체 정지로 이어진다</a:t>
            </a:r>
          </a:p>
        </p:txBody>
      </p:sp>
      <p:pic>
        <p:nvPicPr>
          <p:cNvPr id="4" name="Picture 3" descr="fig6_failure_propag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058" y="1325880"/>
            <a:ext cx="11087578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NanumGothic"/>
              </a:rPr>
              <a:t>실험 결과 ① 장애 주입 타임라인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NanumGothic"/>
              </a:rPr>
              <a:t>K=10, 차량 1대 장애로 전체 학습이 멈추거나 종료</a:t>
            </a:r>
          </a:p>
        </p:txBody>
      </p:sp>
      <p:pic>
        <p:nvPicPr>
          <p:cNvPr id="4" name="Picture 3" descr="fig1_fault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367" y="1325880"/>
            <a:ext cx="10004961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NanumGothic"/>
              </a:rPr>
              <a:t>실측 결과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NanumGothic"/>
              </a:rPr>
              <a:t>K=10 단일 노드 · 정지 시간 = 마지막 라운드 이후 관측 종료까지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097280"/>
                <a:gridCol w="2377440"/>
                <a:gridCol w="914400"/>
                <a:gridCol w="356616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latin typeface="NanumGothic"/>
                        </a:rPr>
                        <a:t>시나리오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NanumGothic"/>
                        </a:rPr>
                        <a:t>완료 라운드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NanumGothic"/>
                        </a:rPr>
                        <a:t>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NanumGothic"/>
                        </a:rPr>
                        <a:t>정지(초)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NanumGothic"/>
                        </a:rPr>
                        <a:t>종료 시 서버 위치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NanumGothic"/>
                        </a:rPr>
                        <a:t>E0 장애 없음 (기준선)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NanumGothic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NanumGothic"/>
                        </a:rPr>
                        <a:t>정상 종료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NanumGothic"/>
                        </a:rPr>
                        <a:t>5.8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NanumGothic"/>
                        </a:rPr>
                        <a:t>예외로 종료 / 정상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NanumGothic"/>
                        </a:rPr>
                        <a:t>E1 차량 1대 hard crash (SIGKILL)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NanumGothic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NanumGothic"/>
                        </a:rPr>
                        <a:t>job 전체 비정상 종료 (exit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NanumGothic"/>
                        </a:rP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NanumGothic"/>
                        </a:rPr>
                        <a:t>예외로 종료 / 정상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NanumGothic"/>
                        </a:rPr>
                        <a:t>E1b hard crash + torchrun 재시작 허용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NanumGothic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NanumGothic"/>
                        </a:rPr>
                        <a:t>진행 정지 → 관측 종료 후 강제 종료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NanumGothic"/>
                        </a:rPr>
                        <a:t>70.5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NanumGothic"/>
                        </a:rPr>
                        <a:t>SASAFLServer.py 59 in wait_until_can_update_global_model ← SASAFL.py 60 in runServer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NanumGothic"/>
                        </a:rPr>
                        <a:t>E2a 차량 1대 silent drop (SIGSTOP)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NanumGothic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NanumGothic"/>
                        </a:rPr>
                        <a:t>진행 정지 → 관측 종료 후 강제 종료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NanumGothic"/>
                        </a:rPr>
                        <a:t>482.3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NanumGothic"/>
                        </a:rPr>
                        <a:t>distributed_c10d.py 959 in send ← SASAFLServer.py 112 in send_global_model_to_clients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NanumGothic"/>
                        </a:rPr>
                        <a:t>E2b 생존 4대 &lt; P_min 5 (SIGSTOP 6대)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NanumGothic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NanumGothic"/>
                        </a:rPr>
                        <a:t>진행 정지 → 관측 종료 후 강제 종료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NanumGothic"/>
                        </a:rPr>
                        <a:t>477.6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NanumGothic"/>
                        </a:rPr>
                        <a:t>distributed_c10d.py 959 in send ← SASAFLServer.py 114 in send_global_model_to_clients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NanumGothic"/>
                        </a:rPr>
                        <a:t>E2c silent drop + gloo timeout 90초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NanumGothic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NanumGothic"/>
                        </a:rPr>
                        <a:t>job 전체 비정상 종료 (exit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NanumGothic"/>
                        </a:rPr>
                        <a:t>123.6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NanumGothic"/>
                        </a:rPr>
                        <a:t>예외로 종료 / 정상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NanumGothic"/>
              </a:rPr>
              <a:t>실험 결과 ② 정지 구간의 서버 상태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NanumGothic"/>
              </a:rPr>
              <a:t>라운드 진행 0 · 서버 스택은 send 또는 대기 루프</a:t>
            </a:r>
          </a:p>
        </p:txBody>
      </p:sp>
      <p:pic>
        <p:nvPicPr>
          <p:cNvPr id="4" name="Picture 3" descr="fig2_server_state_during_st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27530"/>
            <a:ext cx="11277295" cy="50544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NanumGothic"/>
              </a:rPr>
              <a:t>실험 결과 ③ 장애가 없어도 P_r = 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NanumGothic"/>
              </a:rPr>
              <a:t>E0 실측 — K에 도달한 라운드에 1대만 빠져도 영구 대기</a:t>
            </a:r>
          </a:p>
        </p:txBody>
      </p:sp>
      <p:pic>
        <p:nvPicPr>
          <p:cNvPr id="4" name="Picture 3" descr="fig3_e0_measured_quo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032" y="1325880"/>
            <a:ext cx="8479631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NanumGothic"/>
              </a:rPr>
              <a:t>코드 수준 증명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NanumGothic"/>
              </a:rPr>
              <a:t>대기 함수에 timeout·생존 확인 없음 / quota 함수에 연결 상태 입력 없음</a:t>
            </a:r>
          </a:p>
        </p:txBody>
      </p:sp>
      <p:pic>
        <p:nvPicPr>
          <p:cNvPr id="4" name="Picture 3" descr="fig4_code_level_pro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55605"/>
            <a:ext cx="11277295" cy="41983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NanumGothic"/>
              </a:rPr>
              <a:t>시뮬레이션: 차량 끊김률과 교착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NanumGothic"/>
              </a:rPr>
              <a:t>정상상태 연결 비율 p_back/(p_back+p_drop)이 C 아래면 SASAFL 정지</a:t>
            </a:r>
          </a:p>
        </p:txBody>
      </p:sp>
      <p:pic>
        <p:nvPicPr>
          <p:cNvPr id="4" name="Picture 3" descr="fig5_simulation_deadlock_prob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73092"/>
            <a:ext cx="11277295" cy="296337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NanumGothic"/>
              </a:rPr>
              <a:t>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NanumGothic"/>
              </a:rPr>
              <a:t>코드 패치는 임시방편 — 알고리즘과 통신 구조 모두 crash-aware여야 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0B0B0B"/>
                </a:solidFill>
                <a:latin typeface="NanumGothic"/>
              </a:rPr>
              <a:t>• 통신 계층: torchrun은 1대 실패 시 전체 worker 종료(gang), gloo p2p는 재접속 불가, timeout 기본 30분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0B0B0B"/>
                </a:solidFill>
                <a:latin typeface="NanumGothic"/>
              </a:rPr>
              <a:t>• 애플리케이션: 서버가 매 라운드 전체 차량에 blocking send, 예외 처리 없음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0B0B0B"/>
                </a:solidFill>
                <a:latin typeface="NanumGothic"/>
              </a:rPr>
              <a:t>• 알고리즘: P_r(Eq.1)은 loss만 보고 K까지 증가, 대기 조건 len(B) ≥ P_r에 생존 차량 수가 없음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0B0B0B"/>
                </a:solidFill>
                <a:latin typeface="NanumGothic"/>
              </a:rPr>
              <a:t>• 재시작(max_restarts)은 복구가 아님: 라운드 0부터 다시 시작, 끊긴 실제 차량은 서버가 재기동할 수 없음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D03B3B"/>
                </a:solidFill>
                <a:latin typeface="NanumGothic"/>
              </a:rPr>
              <a:t>→ 필요한 것: heartbeat 기반 생존 판정 + 유예시간, pull 기반 재접속, P_eff=min(P_r, alive) + deadline, 서버 상태 영속화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D03B3B"/>
                </a:solidFill>
                <a:latin typeface="NanumGothic"/>
              </a:rPr>
              <a:t>→ 후보: NVIDIA FLARE Edge(FedBuff, Jetson 지원, dead client 정책) 위에 SASAFL 아이디어 이식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NanumGothic"/>
              </a:rPr>
              <a:t>오픈소스 프레임워크의 dead client 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NanumGothic"/>
              </a:rPr>
              <a:t>소스 코드 확인 기준 (2026-10-10)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931920"/>
                <a:gridCol w="530352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latin typeface="NanumGothic"/>
                        </a:rPr>
                        <a:t>프레임워크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NanumGothic"/>
                        </a:rPr>
                        <a:t>감지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NanumGothic"/>
                        </a:rPr>
                        <a:t>감지 후 동작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NanumGothic"/>
                        </a:rPr>
                        <a:t>NVIDIA FLARE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NanumGothic"/>
                        </a:rPr>
                        <a:t>heartbeat + dead job report, 유예 60초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NanumGothic"/>
                        </a:rPr>
                        <a:t>작업 CLIENT_DEAD 종료, alive&lt;min_sites면 중단, 재접속 이벤트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NanumGothic"/>
                        </a:rPr>
                        <a:t>Flower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NanumGothic"/>
                        </a:rPr>
                        <a:t>SuperNode heartbeat 30초 × patience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NanumGothic"/>
                        </a:rPr>
                        <a:t>offline 노드 메시지에 NODE_UNAVAILABLE 응답, accept_failures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NanumGothic"/>
                        </a:rPr>
                        <a:t>FEDn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NanumGothic"/>
                        </a:rPr>
                        <a:t>클라이언트→combiner heartbeat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NanumGothic"/>
                        </a:rPr>
                        <a:t>(서버 측 미확인)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NanumGothic"/>
                        </a:rPr>
                        <a:t>FedML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NanumGothic"/>
                        </a:rPr>
                        <a:t>MQTT keepalive + Last-Will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NanumGothic"/>
                        </a:rPr>
                        <a:t>active list에서 제거, 단 cross-silo 집계는 전원 대기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NanumGothic"/>
                        </a:rPr>
                        <a:t>Fed-BioMed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NanumGothic"/>
                        </a:rPr>
                        <a:t>gRPC 작업 요청 스트림 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NanumGothic"/>
                        </a:rPr>
                        <a:t>DiscardOnTimeout / StopOnDisconnect 정책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NanumGothic"/>
                        </a:rPr>
                        <a:t>OpenFL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NanumGothic"/>
                        </a:rPr>
                        <a:t>없음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NanumGothic"/>
                        </a:rPr>
                        <a:t>CutoffTime / Percentage straggler 정책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NanumGothic"/>
                        </a:rPr>
                        <a:t>torchrun+gloo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NanumGothic"/>
                        </a:rPr>
                        <a:t>없음 (연산 timeout 30분)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NanumGothic"/>
                        </a:rPr>
                        <a:t>전체 worker 종료·재시작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NanumGothic"/>
              </a:rPr>
              <a:t>NVIDIA FLARE × Jetson AGX Orin 32GB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NanumGothic"/>
              </a:rPr>
              <a:t>상세: RESEARCH_FLARE_JETSON_HEARTBEAT.md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0B0B0B"/>
                </a:solidFill>
                <a:latin typeface="NanumGothic"/>
              </a:rPr>
              <a:t>• Orin 32GB: Ampere 1792 CUDA / 56 Tensor 코어, 8코어 A78AE, 32GB LPDDR5(공유), 200 TOPS, 15–40W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0B0B0B"/>
                </a:solidFill>
                <a:latin typeface="NanumGothic"/>
              </a:rPr>
              <a:t>• FLARE 2.7+ Edge: 계층형(서버→relay→leaf→기기), FedBuff 비동기, HTTP pull 프로토콜(EDIP)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0B0B0B"/>
                </a:solidFill>
                <a:latin typeface="NanumGothic"/>
              </a:rPr>
              <a:t>• 문서 명시: 'Edge Device Training (Jetson / GPU)', EdgeFedBuffRecipe 'e.g., NVIDIA Jetson devices'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0B0B0B"/>
                </a:solidFill>
                <a:latin typeface="NanumGothic"/>
              </a:rPr>
              <a:t>• NVIDIA AV 운영 사례: 5–10분 단절로 서버 무기한 대기 → FLARE에 복구·재개 기능 추가 (NVIDIA blog 2024-10)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0B0B0B"/>
                </a:solidFill>
                <a:latin typeface="NanumGothic"/>
              </a:rPr>
              <a:t>• 주의: FLARE는 Python ≥ 3.10 → JetPack 6 필요 / PyTorch 엣지 예제는 기기 시뮬레이션 →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0B0B0B"/>
                </a:solidFill>
                <a:latin typeface="NanumGothic"/>
              </a:rPr>
              <a:t>   실기기는 PTRunner + FegApi(HTTP)로 직접 연동 / SimEnv 미지원(ProdEnv provisioning 필요)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NanumGothic"/>
              </a:rPr>
              <a:t>재현 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NanumGothic"/>
              </a:rPr>
              <a:t>crash_study/README.md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B0B0B"/>
                </a:solidFill>
                <a:latin typeface="NanumGothic"/>
              </a:rPr>
              <a:t>python crash_study/experiments/run_experiment.py all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B0B0B"/>
                </a:solidFill>
                <a:latin typeface="NanumGothic"/>
              </a:rPr>
              <a:t>python crash_study/experiments/code_level_proof.py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B0B0B"/>
                </a:solidFill>
                <a:latin typeface="NanumGothic"/>
              </a:rPr>
              <a:t>python crash_study/experiments/simulate_quota.py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B0B0B"/>
                </a:solidFill>
                <a:latin typeface="NanumGothic"/>
              </a:rPr>
              <a:t>python crash_study/analysis/make_figures.py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B0B0B"/>
                </a:solidFill>
                <a:latin typeface="NanumGothic"/>
              </a:rPr>
              <a:t>python crash_study/tools/capture_docs.py crash_study/docs_screenshots   (playwright 필요)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B0B0B"/>
                </a:solidFill>
                <a:latin typeface="NanumGothic"/>
              </a:rPr>
              <a:t>python crash_study/tools/build_pptx.py   (python-pptx 필요)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